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AD5E5-43C5-4615-8EBC-62842BF8B36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70D69D-8B9D-4343-8339-C9027AC3C530}">
      <dgm:prSet/>
      <dgm:spPr/>
      <dgm:t>
        <a:bodyPr/>
        <a:lstStyle/>
        <a:p>
          <a:r>
            <a:rPr lang="en-US"/>
            <a:t>Identifies critical business processes</a:t>
          </a:r>
        </a:p>
      </dgm:t>
    </dgm:pt>
    <dgm:pt modelId="{88CF3BF1-1D08-4183-8DEE-CD9EFE89990D}" type="parTrans" cxnId="{833B1945-A60A-491F-A675-B95FF3E16424}">
      <dgm:prSet/>
      <dgm:spPr/>
      <dgm:t>
        <a:bodyPr/>
        <a:lstStyle/>
        <a:p>
          <a:endParaRPr lang="en-US"/>
        </a:p>
      </dgm:t>
    </dgm:pt>
    <dgm:pt modelId="{65660E32-5C29-4B1B-B229-4E6B741E6F7D}" type="sibTrans" cxnId="{833B1945-A60A-491F-A675-B95FF3E16424}">
      <dgm:prSet/>
      <dgm:spPr/>
      <dgm:t>
        <a:bodyPr/>
        <a:lstStyle/>
        <a:p>
          <a:endParaRPr lang="en-US"/>
        </a:p>
      </dgm:t>
    </dgm:pt>
    <dgm:pt modelId="{23A4CD20-92FB-4353-B2DE-856CFD4E4378}">
      <dgm:prSet/>
      <dgm:spPr/>
      <dgm:t>
        <a:bodyPr/>
        <a:lstStyle/>
        <a:p>
          <a:r>
            <a:rPr lang="en-US"/>
            <a:t>Measures downtime impact</a:t>
          </a:r>
        </a:p>
      </dgm:t>
    </dgm:pt>
    <dgm:pt modelId="{B4B76752-3DAC-4F4F-8639-CDF968722F96}" type="parTrans" cxnId="{0ECDBF7E-3B0D-4D8F-A428-D742316D0049}">
      <dgm:prSet/>
      <dgm:spPr/>
      <dgm:t>
        <a:bodyPr/>
        <a:lstStyle/>
        <a:p>
          <a:endParaRPr lang="en-US"/>
        </a:p>
      </dgm:t>
    </dgm:pt>
    <dgm:pt modelId="{35F298A3-5E7B-4171-9E5D-DE1450E993AC}" type="sibTrans" cxnId="{0ECDBF7E-3B0D-4D8F-A428-D742316D0049}">
      <dgm:prSet/>
      <dgm:spPr/>
      <dgm:t>
        <a:bodyPr/>
        <a:lstStyle/>
        <a:p>
          <a:endParaRPr lang="en-US"/>
        </a:p>
      </dgm:t>
    </dgm:pt>
    <dgm:pt modelId="{0DCF964F-5AF1-4981-BEFE-111F19534BBA}">
      <dgm:prSet/>
      <dgm:spPr/>
      <dgm:t>
        <a:bodyPr/>
        <a:lstStyle/>
        <a:p>
          <a:r>
            <a:rPr lang="en-US"/>
            <a:t>Defines RTO &amp; RPO</a:t>
          </a:r>
        </a:p>
      </dgm:t>
    </dgm:pt>
    <dgm:pt modelId="{4A62F329-9271-4706-BAFF-45D8CB7DAC61}" type="parTrans" cxnId="{0371A97A-A9FE-4CD6-8498-42F7898A3539}">
      <dgm:prSet/>
      <dgm:spPr/>
      <dgm:t>
        <a:bodyPr/>
        <a:lstStyle/>
        <a:p>
          <a:endParaRPr lang="en-US"/>
        </a:p>
      </dgm:t>
    </dgm:pt>
    <dgm:pt modelId="{4F9A07E3-B337-4D63-A62E-B7AF35259FD0}" type="sibTrans" cxnId="{0371A97A-A9FE-4CD6-8498-42F7898A3539}">
      <dgm:prSet/>
      <dgm:spPr/>
      <dgm:t>
        <a:bodyPr/>
        <a:lstStyle/>
        <a:p>
          <a:endParaRPr lang="en-US"/>
        </a:p>
      </dgm:t>
    </dgm:pt>
    <dgm:pt modelId="{C4280040-DB27-463F-9E86-0978C8351F69}">
      <dgm:prSet/>
      <dgm:spPr/>
      <dgm:t>
        <a:bodyPr/>
        <a:lstStyle/>
        <a:p>
          <a:r>
            <a:rPr lang="en-US"/>
            <a:t>Maps system dependencies</a:t>
          </a:r>
        </a:p>
      </dgm:t>
    </dgm:pt>
    <dgm:pt modelId="{A4552BF2-9BCA-4803-80E7-0F0103399F2B}" type="parTrans" cxnId="{E9ADF70C-DFC7-45EC-AA90-34C07277B19E}">
      <dgm:prSet/>
      <dgm:spPr/>
      <dgm:t>
        <a:bodyPr/>
        <a:lstStyle/>
        <a:p>
          <a:endParaRPr lang="en-US"/>
        </a:p>
      </dgm:t>
    </dgm:pt>
    <dgm:pt modelId="{F066D2D8-04EC-4CF7-B1F6-5DC30569FFCE}" type="sibTrans" cxnId="{E9ADF70C-DFC7-45EC-AA90-34C07277B19E}">
      <dgm:prSet/>
      <dgm:spPr/>
      <dgm:t>
        <a:bodyPr/>
        <a:lstStyle/>
        <a:p>
          <a:endParaRPr lang="en-US"/>
        </a:p>
      </dgm:t>
    </dgm:pt>
    <dgm:pt modelId="{0C0A67E7-4CC3-42D9-B492-F4A58D6C7D13}" type="pres">
      <dgm:prSet presAssocID="{BD8AD5E5-43C5-4615-8EBC-62842BF8B3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FFA6DB-D181-4866-BA92-B35051C4547A}" type="pres">
      <dgm:prSet presAssocID="{3F70D69D-8B9D-4343-8339-C9027AC3C530}" presName="hierRoot1" presStyleCnt="0"/>
      <dgm:spPr/>
    </dgm:pt>
    <dgm:pt modelId="{4B75B67A-1AF6-448F-A209-088D918A67C2}" type="pres">
      <dgm:prSet presAssocID="{3F70D69D-8B9D-4343-8339-C9027AC3C530}" presName="composite" presStyleCnt="0"/>
      <dgm:spPr/>
    </dgm:pt>
    <dgm:pt modelId="{486BFCB8-F783-465B-A4D7-725C2368D59D}" type="pres">
      <dgm:prSet presAssocID="{3F70D69D-8B9D-4343-8339-C9027AC3C530}" presName="background" presStyleLbl="node0" presStyleIdx="0" presStyleCnt="4"/>
      <dgm:spPr/>
    </dgm:pt>
    <dgm:pt modelId="{AA1358D4-F89F-4463-95BC-A7CA79C1A59D}" type="pres">
      <dgm:prSet presAssocID="{3F70D69D-8B9D-4343-8339-C9027AC3C530}" presName="text" presStyleLbl="fgAcc0" presStyleIdx="0" presStyleCnt="4">
        <dgm:presLayoutVars>
          <dgm:chPref val="3"/>
        </dgm:presLayoutVars>
      </dgm:prSet>
      <dgm:spPr/>
    </dgm:pt>
    <dgm:pt modelId="{C442FBEF-7837-470A-BF1C-262DA2F9D84C}" type="pres">
      <dgm:prSet presAssocID="{3F70D69D-8B9D-4343-8339-C9027AC3C530}" presName="hierChild2" presStyleCnt="0"/>
      <dgm:spPr/>
    </dgm:pt>
    <dgm:pt modelId="{3443CB98-5981-4039-AECF-EE6EA5C94B0B}" type="pres">
      <dgm:prSet presAssocID="{23A4CD20-92FB-4353-B2DE-856CFD4E4378}" presName="hierRoot1" presStyleCnt="0"/>
      <dgm:spPr/>
    </dgm:pt>
    <dgm:pt modelId="{015C9204-CAAF-4724-971A-4E01E1532282}" type="pres">
      <dgm:prSet presAssocID="{23A4CD20-92FB-4353-B2DE-856CFD4E4378}" presName="composite" presStyleCnt="0"/>
      <dgm:spPr/>
    </dgm:pt>
    <dgm:pt modelId="{F286CF29-4B86-4454-BFF4-C6DAC91D7281}" type="pres">
      <dgm:prSet presAssocID="{23A4CD20-92FB-4353-B2DE-856CFD4E4378}" presName="background" presStyleLbl="node0" presStyleIdx="1" presStyleCnt="4"/>
      <dgm:spPr/>
    </dgm:pt>
    <dgm:pt modelId="{B2C03805-911F-43C8-8959-B6BEA2304B2B}" type="pres">
      <dgm:prSet presAssocID="{23A4CD20-92FB-4353-B2DE-856CFD4E4378}" presName="text" presStyleLbl="fgAcc0" presStyleIdx="1" presStyleCnt="4">
        <dgm:presLayoutVars>
          <dgm:chPref val="3"/>
        </dgm:presLayoutVars>
      </dgm:prSet>
      <dgm:spPr/>
    </dgm:pt>
    <dgm:pt modelId="{E2B77D7B-7440-497E-BBFC-D56590A691CD}" type="pres">
      <dgm:prSet presAssocID="{23A4CD20-92FB-4353-B2DE-856CFD4E4378}" presName="hierChild2" presStyleCnt="0"/>
      <dgm:spPr/>
    </dgm:pt>
    <dgm:pt modelId="{7298C881-886F-4458-9A93-AEAB5D088750}" type="pres">
      <dgm:prSet presAssocID="{0DCF964F-5AF1-4981-BEFE-111F19534BBA}" presName="hierRoot1" presStyleCnt="0"/>
      <dgm:spPr/>
    </dgm:pt>
    <dgm:pt modelId="{A2A4215A-64EE-4717-88A9-7EB845B5F05A}" type="pres">
      <dgm:prSet presAssocID="{0DCF964F-5AF1-4981-BEFE-111F19534BBA}" presName="composite" presStyleCnt="0"/>
      <dgm:spPr/>
    </dgm:pt>
    <dgm:pt modelId="{9B01F0A0-6364-4B0C-BEC9-8FBA247A7D8D}" type="pres">
      <dgm:prSet presAssocID="{0DCF964F-5AF1-4981-BEFE-111F19534BBA}" presName="background" presStyleLbl="node0" presStyleIdx="2" presStyleCnt="4"/>
      <dgm:spPr/>
    </dgm:pt>
    <dgm:pt modelId="{8257DB5E-27BB-4818-A490-2C239BD17FBB}" type="pres">
      <dgm:prSet presAssocID="{0DCF964F-5AF1-4981-BEFE-111F19534BBA}" presName="text" presStyleLbl="fgAcc0" presStyleIdx="2" presStyleCnt="4">
        <dgm:presLayoutVars>
          <dgm:chPref val="3"/>
        </dgm:presLayoutVars>
      </dgm:prSet>
      <dgm:spPr/>
    </dgm:pt>
    <dgm:pt modelId="{B464215A-3A15-45B7-860E-723D7CFF6C0C}" type="pres">
      <dgm:prSet presAssocID="{0DCF964F-5AF1-4981-BEFE-111F19534BBA}" presName="hierChild2" presStyleCnt="0"/>
      <dgm:spPr/>
    </dgm:pt>
    <dgm:pt modelId="{5FAEC63F-438F-455A-A784-D11C8E080459}" type="pres">
      <dgm:prSet presAssocID="{C4280040-DB27-463F-9E86-0978C8351F69}" presName="hierRoot1" presStyleCnt="0"/>
      <dgm:spPr/>
    </dgm:pt>
    <dgm:pt modelId="{E0344781-58E8-4775-BD6A-7635D68BA51C}" type="pres">
      <dgm:prSet presAssocID="{C4280040-DB27-463F-9E86-0978C8351F69}" presName="composite" presStyleCnt="0"/>
      <dgm:spPr/>
    </dgm:pt>
    <dgm:pt modelId="{AC9D769C-2239-4AA2-8EC5-3F1C8AF2204D}" type="pres">
      <dgm:prSet presAssocID="{C4280040-DB27-463F-9E86-0978C8351F69}" presName="background" presStyleLbl="node0" presStyleIdx="3" presStyleCnt="4"/>
      <dgm:spPr/>
    </dgm:pt>
    <dgm:pt modelId="{15258BB5-7E58-492A-959C-C9E593680BEA}" type="pres">
      <dgm:prSet presAssocID="{C4280040-DB27-463F-9E86-0978C8351F69}" presName="text" presStyleLbl="fgAcc0" presStyleIdx="3" presStyleCnt="4">
        <dgm:presLayoutVars>
          <dgm:chPref val="3"/>
        </dgm:presLayoutVars>
      </dgm:prSet>
      <dgm:spPr/>
    </dgm:pt>
    <dgm:pt modelId="{89253A3E-CEA0-4C65-8F98-A4B9176F8C27}" type="pres">
      <dgm:prSet presAssocID="{C4280040-DB27-463F-9E86-0978C8351F69}" presName="hierChild2" presStyleCnt="0"/>
      <dgm:spPr/>
    </dgm:pt>
  </dgm:ptLst>
  <dgm:cxnLst>
    <dgm:cxn modelId="{E9ADF70C-DFC7-45EC-AA90-34C07277B19E}" srcId="{BD8AD5E5-43C5-4615-8EBC-62842BF8B360}" destId="{C4280040-DB27-463F-9E86-0978C8351F69}" srcOrd="3" destOrd="0" parTransId="{A4552BF2-9BCA-4803-80E7-0F0103399F2B}" sibTransId="{F066D2D8-04EC-4CF7-B1F6-5DC30569FFCE}"/>
    <dgm:cxn modelId="{C3156064-D3A3-459A-A6DE-3F3901DC023F}" type="presOf" srcId="{23A4CD20-92FB-4353-B2DE-856CFD4E4378}" destId="{B2C03805-911F-43C8-8959-B6BEA2304B2B}" srcOrd="0" destOrd="0" presId="urn:microsoft.com/office/officeart/2005/8/layout/hierarchy1"/>
    <dgm:cxn modelId="{833B1945-A60A-491F-A675-B95FF3E16424}" srcId="{BD8AD5E5-43C5-4615-8EBC-62842BF8B360}" destId="{3F70D69D-8B9D-4343-8339-C9027AC3C530}" srcOrd="0" destOrd="0" parTransId="{88CF3BF1-1D08-4183-8DEE-CD9EFE89990D}" sibTransId="{65660E32-5C29-4B1B-B229-4E6B741E6F7D}"/>
    <dgm:cxn modelId="{B49B4D58-8B5B-44C6-943D-CCA47CE05FEA}" type="presOf" srcId="{C4280040-DB27-463F-9E86-0978C8351F69}" destId="{15258BB5-7E58-492A-959C-C9E593680BEA}" srcOrd="0" destOrd="0" presId="urn:microsoft.com/office/officeart/2005/8/layout/hierarchy1"/>
    <dgm:cxn modelId="{0371A97A-A9FE-4CD6-8498-42F7898A3539}" srcId="{BD8AD5E5-43C5-4615-8EBC-62842BF8B360}" destId="{0DCF964F-5AF1-4981-BEFE-111F19534BBA}" srcOrd="2" destOrd="0" parTransId="{4A62F329-9271-4706-BAFF-45D8CB7DAC61}" sibTransId="{4F9A07E3-B337-4D63-A62E-B7AF35259FD0}"/>
    <dgm:cxn modelId="{0ECDBF7E-3B0D-4D8F-A428-D742316D0049}" srcId="{BD8AD5E5-43C5-4615-8EBC-62842BF8B360}" destId="{23A4CD20-92FB-4353-B2DE-856CFD4E4378}" srcOrd="1" destOrd="0" parTransId="{B4B76752-3DAC-4F4F-8639-CDF968722F96}" sibTransId="{35F298A3-5E7B-4171-9E5D-DE1450E993AC}"/>
    <dgm:cxn modelId="{1131F58D-7597-40FD-9726-ADF45458F904}" type="presOf" srcId="{3F70D69D-8B9D-4343-8339-C9027AC3C530}" destId="{AA1358D4-F89F-4463-95BC-A7CA79C1A59D}" srcOrd="0" destOrd="0" presId="urn:microsoft.com/office/officeart/2005/8/layout/hierarchy1"/>
    <dgm:cxn modelId="{41D2B7C7-ABB7-432B-B1CF-95D27248058E}" type="presOf" srcId="{BD8AD5E5-43C5-4615-8EBC-62842BF8B360}" destId="{0C0A67E7-4CC3-42D9-B492-F4A58D6C7D13}" srcOrd="0" destOrd="0" presId="urn:microsoft.com/office/officeart/2005/8/layout/hierarchy1"/>
    <dgm:cxn modelId="{BCDBC8FB-6943-47ED-BCD8-8BC047BB2756}" type="presOf" srcId="{0DCF964F-5AF1-4981-BEFE-111F19534BBA}" destId="{8257DB5E-27BB-4818-A490-2C239BD17FBB}" srcOrd="0" destOrd="0" presId="urn:microsoft.com/office/officeart/2005/8/layout/hierarchy1"/>
    <dgm:cxn modelId="{77FBD910-98E7-47E3-91F3-369DFC441E17}" type="presParOf" srcId="{0C0A67E7-4CC3-42D9-B492-F4A58D6C7D13}" destId="{AEFFA6DB-D181-4866-BA92-B35051C4547A}" srcOrd="0" destOrd="0" presId="urn:microsoft.com/office/officeart/2005/8/layout/hierarchy1"/>
    <dgm:cxn modelId="{632CDF67-8D4E-443B-87C5-82C20266B0CC}" type="presParOf" srcId="{AEFFA6DB-D181-4866-BA92-B35051C4547A}" destId="{4B75B67A-1AF6-448F-A209-088D918A67C2}" srcOrd="0" destOrd="0" presId="urn:microsoft.com/office/officeart/2005/8/layout/hierarchy1"/>
    <dgm:cxn modelId="{09973BCA-4634-4938-BBA9-A2315298C517}" type="presParOf" srcId="{4B75B67A-1AF6-448F-A209-088D918A67C2}" destId="{486BFCB8-F783-465B-A4D7-725C2368D59D}" srcOrd="0" destOrd="0" presId="urn:microsoft.com/office/officeart/2005/8/layout/hierarchy1"/>
    <dgm:cxn modelId="{52752C7C-CE05-4FB1-BE2C-C8A0BF617E24}" type="presParOf" srcId="{4B75B67A-1AF6-448F-A209-088D918A67C2}" destId="{AA1358D4-F89F-4463-95BC-A7CA79C1A59D}" srcOrd="1" destOrd="0" presId="urn:microsoft.com/office/officeart/2005/8/layout/hierarchy1"/>
    <dgm:cxn modelId="{8988251D-E3B3-4E4E-8CFE-E2F847DC0B5B}" type="presParOf" srcId="{AEFFA6DB-D181-4866-BA92-B35051C4547A}" destId="{C442FBEF-7837-470A-BF1C-262DA2F9D84C}" srcOrd="1" destOrd="0" presId="urn:microsoft.com/office/officeart/2005/8/layout/hierarchy1"/>
    <dgm:cxn modelId="{C86C31C3-493B-4C2C-B086-2672B2271940}" type="presParOf" srcId="{0C0A67E7-4CC3-42D9-B492-F4A58D6C7D13}" destId="{3443CB98-5981-4039-AECF-EE6EA5C94B0B}" srcOrd="1" destOrd="0" presId="urn:microsoft.com/office/officeart/2005/8/layout/hierarchy1"/>
    <dgm:cxn modelId="{33CA70AE-9B93-4B3C-9F6C-A064162A883C}" type="presParOf" srcId="{3443CB98-5981-4039-AECF-EE6EA5C94B0B}" destId="{015C9204-CAAF-4724-971A-4E01E1532282}" srcOrd="0" destOrd="0" presId="urn:microsoft.com/office/officeart/2005/8/layout/hierarchy1"/>
    <dgm:cxn modelId="{0EF27E77-EFD8-4A37-86AB-E2B61C58288C}" type="presParOf" srcId="{015C9204-CAAF-4724-971A-4E01E1532282}" destId="{F286CF29-4B86-4454-BFF4-C6DAC91D7281}" srcOrd="0" destOrd="0" presId="urn:microsoft.com/office/officeart/2005/8/layout/hierarchy1"/>
    <dgm:cxn modelId="{D7FA8ADA-8BDD-41D4-A899-34597DD54279}" type="presParOf" srcId="{015C9204-CAAF-4724-971A-4E01E1532282}" destId="{B2C03805-911F-43C8-8959-B6BEA2304B2B}" srcOrd="1" destOrd="0" presId="urn:microsoft.com/office/officeart/2005/8/layout/hierarchy1"/>
    <dgm:cxn modelId="{A8105AC0-BEB0-4D10-BFC9-3D86C4AA8D7E}" type="presParOf" srcId="{3443CB98-5981-4039-AECF-EE6EA5C94B0B}" destId="{E2B77D7B-7440-497E-BBFC-D56590A691CD}" srcOrd="1" destOrd="0" presId="urn:microsoft.com/office/officeart/2005/8/layout/hierarchy1"/>
    <dgm:cxn modelId="{ACBB6EC5-856A-4DAA-93D8-A807856A9610}" type="presParOf" srcId="{0C0A67E7-4CC3-42D9-B492-F4A58D6C7D13}" destId="{7298C881-886F-4458-9A93-AEAB5D088750}" srcOrd="2" destOrd="0" presId="urn:microsoft.com/office/officeart/2005/8/layout/hierarchy1"/>
    <dgm:cxn modelId="{54193360-3D19-4290-B227-CAE6D17932B6}" type="presParOf" srcId="{7298C881-886F-4458-9A93-AEAB5D088750}" destId="{A2A4215A-64EE-4717-88A9-7EB845B5F05A}" srcOrd="0" destOrd="0" presId="urn:microsoft.com/office/officeart/2005/8/layout/hierarchy1"/>
    <dgm:cxn modelId="{2CB6F390-DA09-483E-9D9B-3D44E0F7EAF3}" type="presParOf" srcId="{A2A4215A-64EE-4717-88A9-7EB845B5F05A}" destId="{9B01F0A0-6364-4B0C-BEC9-8FBA247A7D8D}" srcOrd="0" destOrd="0" presId="urn:microsoft.com/office/officeart/2005/8/layout/hierarchy1"/>
    <dgm:cxn modelId="{46853C31-F90C-4EBE-A99A-7DE9EB044BB9}" type="presParOf" srcId="{A2A4215A-64EE-4717-88A9-7EB845B5F05A}" destId="{8257DB5E-27BB-4818-A490-2C239BD17FBB}" srcOrd="1" destOrd="0" presId="urn:microsoft.com/office/officeart/2005/8/layout/hierarchy1"/>
    <dgm:cxn modelId="{0E8A54F2-4448-4787-A29C-72A547589823}" type="presParOf" srcId="{7298C881-886F-4458-9A93-AEAB5D088750}" destId="{B464215A-3A15-45B7-860E-723D7CFF6C0C}" srcOrd="1" destOrd="0" presId="urn:microsoft.com/office/officeart/2005/8/layout/hierarchy1"/>
    <dgm:cxn modelId="{8F113603-1B6F-4836-987E-68C33CD36F91}" type="presParOf" srcId="{0C0A67E7-4CC3-42D9-B492-F4A58D6C7D13}" destId="{5FAEC63F-438F-455A-A784-D11C8E080459}" srcOrd="3" destOrd="0" presId="urn:microsoft.com/office/officeart/2005/8/layout/hierarchy1"/>
    <dgm:cxn modelId="{3CDD8BF5-56F3-4267-BB84-62F54D466047}" type="presParOf" srcId="{5FAEC63F-438F-455A-A784-D11C8E080459}" destId="{E0344781-58E8-4775-BD6A-7635D68BA51C}" srcOrd="0" destOrd="0" presId="urn:microsoft.com/office/officeart/2005/8/layout/hierarchy1"/>
    <dgm:cxn modelId="{7BF881DF-12A2-457A-A23E-4393F200BB46}" type="presParOf" srcId="{E0344781-58E8-4775-BD6A-7635D68BA51C}" destId="{AC9D769C-2239-4AA2-8EC5-3F1C8AF2204D}" srcOrd="0" destOrd="0" presId="urn:microsoft.com/office/officeart/2005/8/layout/hierarchy1"/>
    <dgm:cxn modelId="{800BB200-338E-426B-83DD-C84646353281}" type="presParOf" srcId="{E0344781-58E8-4775-BD6A-7635D68BA51C}" destId="{15258BB5-7E58-492A-959C-C9E593680BEA}" srcOrd="1" destOrd="0" presId="urn:microsoft.com/office/officeart/2005/8/layout/hierarchy1"/>
    <dgm:cxn modelId="{49BAC687-44F4-45DB-992B-E8D16FD02892}" type="presParOf" srcId="{5FAEC63F-438F-455A-A784-D11C8E080459}" destId="{89253A3E-CEA0-4C65-8F98-A4B9176F8C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611FFE-2B8F-4563-AC33-E11EBFB97F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C6CA85-41BC-4BE9-A1B4-507A4A347C73}">
      <dgm:prSet/>
      <dgm:spPr/>
      <dgm:t>
        <a:bodyPr/>
        <a:lstStyle/>
        <a:p>
          <a:pPr>
            <a:defRPr cap="all"/>
          </a:pPr>
          <a:r>
            <a:rPr lang="en-US"/>
            <a:t>Payment processing is most critical</a:t>
          </a:r>
        </a:p>
      </dgm:t>
    </dgm:pt>
    <dgm:pt modelId="{6A1814CF-1C00-447D-8235-CC043BA38BEA}" type="parTrans" cxnId="{C2AAE02F-CA79-423E-A742-0CACD8B26887}">
      <dgm:prSet/>
      <dgm:spPr/>
      <dgm:t>
        <a:bodyPr/>
        <a:lstStyle/>
        <a:p>
          <a:endParaRPr lang="en-US"/>
        </a:p>
      </dgm:t>
    </dgm:pt>
    <dgm:pt modelId="{D3E98D12-F6EB-4A28-AB8A-1866E4E978DD}" type="sibTrans" cxnId="{C2AAE02F-CA79-423E-A742-0CACD8B26887}">
      <dgm:prSet/>
      <dgm:spPr/>
      <dgm:t>
        <a:bodyPr/>
        <a:lstStyle/>
        <a:p>
          <a:endParaRPr lang="en-US"/>
        </a:p>
      </dgm:t>
    </dgm:pt>
    <dgm:pt modelId="{E5BCEA0A-3A29-4865-A4CF-12E50DC192A4}">
      <dgm:prSet/>
      <dgm:spPr/>
      <dgm:t>
        <a:bodyPr/>
        <a:lstStyle/>
        <a:p>
          <a:pPr>
            <a:defRPr cap="all"/>
          </a:pPr>
          <a:r>
            <a:rPr lang="en-US"/>
            <a:t>Downtime = direct revenue loss</a:t>
          </a:r>
        </a:p>
      </dgm:t>
    </dgm:pt>
    <dgm:pt modelId="{E75682C8-7990-49B6-95B6-CA2D7BB5954D}" type="parTrans" cxnId="{B08ECB12-0161-448D-87E5-E17880A1CD68}">
      <dgm:prSet/>
      <dgm:spPr/>
      <dgm:t>
        <a:bodyPr/>
        <a:lstStyle/>
        <a:p>
          <a:endParaRPr lang="en-US"/>
        </a:p>
      </dgm:t>
    </dgm:pt>
    <dgm:pt modelId="{E5F852DB-6066-4AA0-B42C-C7A4ABAB6CC7}" type="sibTrans" cxnId="{B08ECB12-0161-448D-87E5-E17880A1CD68}">
      <dgm:prSet/>
      <dgm:spPr/>
      <dgm:t>
        <a:bodyPr/>
        <a:lstStyle/>
        <a:p>
          <a:endParaRPr lang="en-US"/>
        </a:p>
      </dgm:t>
    </dgm:pt>
    <dgm:pt modelId="{23144458-6034-455B-B01B-C1A3F3769FCE}">
      <dgm:prSet/>
      <dgm:spPr/>
      <dgm:t>
        <a:bodyPr/>
        <a:lstStyle/>
        <a:p>
          <a:pPr>
            <a:defRPr cap="all"/>
          </a:pPr>
          <a:r>
            <a:rPr lang="en-US"/>
            <a:t>Top risks are cyber + outages</a:t>
          </a:r>
        </a:p>
      </dgm:t>
    </dgm:pt>
    <dgm:pt modelId="{514B0D97-58A5-49EC-BA7C-191D22D07EE5}" type="parTrans" cxnId="{471FA4C0-1FDC-4F42-B650-D0D3476FF45F}">
      <dgm:prSet/>
      <dgm:spPr/>
      <dgm:t>
        <a:bodyPr/>
        <a:lstStyle/>
        <a:p>
          <a:endParaRPr lang="en-US"/>
        </a:p>
      </dgm:t>
    </dgm:pt>
    <dgm:pt modelId="{54465BE5-93E2-40B6-AB01-9813615D2180}" type="sibTrans" cxnId="{471FA4C0-1FDC-4F42-B650-D0D3476FF45F}">
      <dgm:prSet/>
      <dgm:spPr/>
      <dgm:t>
        <a:bodyPr/>
        <a:lstStyle/>
        <a:p>
          <a:endParaRPr lang="en-US"/>
        </a:p>
      </dgm:t>
    </dgm:pt>
    <dgm:pt modelId="{91D017B0-ECBA-4A9E-9CA3-C9DE275FE632}" type="pres">
      <dgm:prSet presAssocID="{DC611FFE-2B8F-4563-AC33-E11EBFB97F1F}" presName="root" presStyleCnt="0">
        <dgm:presLayoutVars>
          <dgm:dir/>
          <dgm:resizeHandles val="exact"/>
        </dgm:presLayoutVars>
      </dgm:prSet>
      <dgm:spPr/>
    </dgm:pt>
    <dgm:pt modelId="{728319D4-06ED-4CB3-B591-81C83751847C}" type="pres">
      <dgm:prSet presAssocID="{FEC6CA85-41BC-4BE9-A1B4-507A4A347C73}" presName="compNode" presStyleCnt="0"/>
      <dgm:spPr/>
    </dgm:pt>
    <dgm:pt modelId="{7344007B-946D-4390-968C-02F6926A1632}" type="pres">
      <dgm:prSet presAssocID="{FEC6CA85-41BC-4BE9-A1B4-507A4A347C73}" presName="iconBgRect" presStyleLbl="bgShp" presStyleIdx="0" presStyleCnt="3"/>
      <dgm:spPr/>
    </dgm:pt>
    <dgm:pt modelId="{51C5765A-F2CF-40BA-82FD-28F87340435C}" type="pres">
      <dgm:prSet presAssocID="{FEC6CA85-41BC-4BE9-A1B4-507A4A347C7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6FC4DD6-B708-4F5C-8234-5B210787E292}" type="pres">
      <dgm:prSet presAssocID="{FEC6CA85-41BC-4BE9-A1B4-507A4A347C73}" presName="spaceRect" presStyleCnt="0"/>
      <dgm:spPr/>
    </dgm:pt>
    <dgm:pt modelId="{9B318BDF-1D99-478F-A4A7-889E319773E8}" type="pres">
      <dgm:prSet presAssocID="{FEC6CA85-41BC-4BE9-A1B4-507A4A347C73}" presName="textRect" presStyleLbl="revTx" presStyleIdx="0" presStyleCnt="3">
        <dgm:presLayoutVars>
          <dgm:chMax val="1"/>
          <dgm:chPref val="1"/>
        </dgm:presLayoutVars>
      </dgm:prSet>
      <dgm:spPr/>
    </dgm:pt>
    <dgm:pt modelId="{50E5B9FE-4865-4583-A884-960329F9653B}" type="pres">
      <dgm:prSet presAssocID="{D3E98D12-F6EB-4A28-AB8A-1866E4E978DD}" presName="sibTrans" presStyleCnt="0"/>
      <dgm:spPr/>
    </dgm:pt>
    <dgm:pt modelId="{C9371CBE-0B5F-4EA4-9E93-8880F44ED50D}" type="pres">
      <dgm:prSet presAssocID="{E5BCEA0A-3A29-4865-A4CF-12E50DC192A4}" presName="compNode" presStyleCnt="0"/>
      <dgm:spPr/>
    </dgm:pt>
    <dgm:pt modelId="{EBC35BC7-BFD9-4D48-9682-FA6E0D938095}" type="pres">
      <dgm:prSet presAssocID="{E5BCEA0A-3A29-4865-A4CF-12E50DC192A4}" presName="iconBgRect" presStyleLbl="bgShp" presStyleIdx="1" presStyleCnt="3"/>
      <dgm:spPr/>
    </dgm:pt>
    <dgm:pt modelId="{FFBA6371-2F82-4A77-82BF-CAE254734C0A}" type="pres">
      <dgm:prSet presAssocID="{E5BCEA0A-3A29-4865-A4CF-12E50DC192A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EB31127-FE22-4A28-98C1-7F6D13CBF100}" type="pres">
      <dgm:prSet presAssocID="{E5BCEA0A-3A29-4865-A4CF-12E50DC192A4}" presName="spaceRect" presStyleCnt="0"/>
      <dgm:spPr/>
    </dgm:pt>
    <dgm:pt modelId="{E2F710FB-D4B3-474B-949B-0E097001E322}" type="pres">
      <dgm:prSet presAssocID="{E5BCEA0A-3A29-4865-A4CF-12E50DC192A4}" presName="textRect" presStyleLbl="revTx" presStyleIdx="1" presStyleCnt="3">
        <dgm:presLayoutVars>
          <dgm:chMax val="1"/>
          <dgm:chPref val="1"/>
        </dgm:presLayoutVars>
      </dgm:prSet>
      <dgm:spPr/>
    </dgm:pt>
    <dgm:pt modelId="{4E170ECE-0D26-4DFD-838B-E7869BC43A41}" type="pres">
      <dgm:prSet presAssocID="{E5F852DB-6066-4AA0-B42C-C7A4ABAB6CC7}" presName="sibTrans" presStyleCnt="0"/>
      <dgm:spPr/>
    </dgm:pt>
    <dgm:pt modelId="{14E8F7AD-90F7-4B16-860C-E6CCFCB244F4}" type="pres">
      <dgm:prSet presAssocID="{23144458-6034-455B-B01B-C1A3F3769FCE}" presName="compNode" presStyleCnt="0"/>
      <dgm:spPr/>
    </dgm:pt>
    <dgm:pt modelId="{CCC2486A-D027-43DE-8B21-1D687C26BF6A}" type="pres">
      <dgm:prSet presAssocID="{23144458-6034-455B-B01B-C1A3F3769FCE}" presName="iconBgRect" presStyleLbl="bgShp" presStyleIdx="2" presStyleCnt="3"/>
      <dgm:spPr/>
    </dgm:pt>
    <dgm:pt modelId="{A480CC91-5644-4C1E-83D9-68D710F4E837}" type="pres">
      <dgm:prSet presAssocID="{23144458-6034-455B-B01B-C1A3F3769FC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07AA2CA-72AC-4C22-9FAA-D999B95A9E38}" type="pres">
      <dgm:prSet presAssocID="{23144458-6034-455B-B01B-C1A3F3769FCE}" presName="spaceRect" presStyleCnt="0"/>
      <dgm:spPr/>
    </dgm:pt>
    <dgm:pt modelId="{3175636E-9F0E-4BA3-896A-52DDD53CDC33}" type="pres">
      <dgm:prSet presAssocID="{23144458-6034-455B-B01B-C1A3F3769F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8ECB12-0161-448D-87E5-E17880A1CD68}" srcId="{DC611FFE-2B8F-4563-AC33-E11EBFB97F1F}" destId="{E5BCEA0A-3A29-4865-A4CF-12E50DC192A4}" srcOrd="1" destOrd="0" parTransId="{E75682C8-7990-49B6-95B6-CA2D7BB5954D}" sibTransId="{E5F852DB-6066-4AA0-B42C-C7A4ABAB6CC7}"/>
    <dgm:cxn modelId="{C2AAE02F-CA79-423E-A742-0CACD8B26887}" srcId="{DC611FFE-2B8F-4563-AC33-E11EBFB97F1F}" destId="{FEC6CA85-41BC-4BE9-A1B4-507A4A347C73}" srcOrd="0" destOrd="0" parTransId="{6A1814CF-1C00-447D-8235-CC043BA38BEA}" sibTransId="{D3E98D12-F6EB-4A28-AB8A-1866E4E978DD}"/>
    <dgm:cxn modelId="{FE825F3E-D1B7-46DF-93B4-D1F21F72A560}" type="presOf" srcId="{FEC6CA85-41BC-4BE9-A1B4-507A4A347C73}" destId="{9B318BDF-1D99-478F-A4A7-889E319773E8}" srcOrd="0" destOrd="0" presId="urn:microsoft.com/office/officeart/2018/5/layout/IconCircleLabelList"/>
    <dgm:cxn modelId="{DC3F1570-FC83-4814-8C50-FE0209407C05}" type="presOf" srcId="{E5BCEA0A-3A29-4865-A4CF-12E50DC192A4}" destId="{E2F710FB-D4B3-474B-949B-0E097001E322}" srcOrd="0" destOrd="0" presId="urn:microsoft.com/office/officeart/2018/5/layout/IconCircleLabelList"/>
    <dgm:cxn modelId="{0EDFF353-683B-487C-9BCA-5FB8FE09FF74}" type="presOf" srcId="{DC611FFE-2B8F-4563-AC33-E11EBFB97F1F}" destId="{91D017B0-ECBA-4A9E-9CA3-C9DE275FE632}" srcOrd="0" destOrd="0" presId="urn:microsoft.com/office/officeart/2018/5/layout/IconCircleLabelList"/>
    <dgm:cxn modelId="{E680EDA3-D8B4-4FE2-9D27-3175F6D5B5A7}" type="presOf" srcId="{23144458-6034-455B-B01B-C1A3F3769FCE}" destId="{3175636E-9F0E-4BA3-896A-52DDD53CDC33}" srcOrd="0" destOrd="0" presId="urn:microsoft.com/office/officeart/2018/5/layout/IconCircleLabelList"/>
    <dgm:cxn modelId="{471FA4C0-1FDC-4F42-B650-D0D3476FF45F}" srcId="{DC611FFE-2B8F-4563-AC33-E11EBFB97F1F}" destId="{23144458-6034-455B-B01B-C1A3F3769FCE}" srcOrd="2" destOrd="0" parTransId="{514B0D97-58A5-49EC-BA7C-191D22D07EE5}" sibTransId="{54465BE5-93E2-40B6-AB01-9813615D2180}"/>
    <dgm:cxn modelId="{A332B68B-C267-4894-86A2-41573A02C089}" type="presParOf" srcId="{91D017B0-ECBA-4A9E-9CA3-C9DE275FE632}" destId="{728319D4-06ED-4CB3-B591-81C83751847C}" srcOrd="0" destOrd="0" presId="urn:microsoft.com/office/officeart/2018/5/layout/IconCircleLabelList"/>
    <dgm:cxn modelId="{31A3D2D4-5D0E-427B-BCB1-EA3160CD7E4D}" type="presParOf" srcId="{728319D4-06ED-4CB3-B591-81C83751847C}" destId="{7344007B-946D-4390-968C-02F6926A1632}" srcOrd="0" destOrd="0" presId="urn:microsoft.com/office/officeart/2018/5/layout/IconCircleLabelList"/>
    <dgm:cxn modelId="{04A3C804-384F-4807-A210-93301D007A57}" type="presParOf" srcId="{728319D4-06ED-4CB3-B591-81C83751847C}" destId="{51C5765A-F2CF-40BA-82FD-28F87340435C}" srcOrd="1" destOrd="0" presId="urn:microsoft.com/office/officeart/2018/5/layout/IconCircleLabelList"/>
    <dgm:cxn modelId="{AC6A6CD1-4144-4D3C-83F5-7725A2F337B8}" type="presParOf" srcId="{728319D4-06ED-4CB3-B591-81C83751847C}" destId="{E6FC4DD6-B708-4F5C-8234-5B210787E292}" srcOrd="2" destOrd="0" presId="urn:microsoft.com/office/officeart/2018/5/layout/IconCircleLabelList"/>
    <dgm:cxn modelId="{CEC411E8-AF88-478D-A9B4-D70CEE7C9DB5}" type="presParOf" srcId="{728319D4-06ED-4CB3-B591-81C83751847C}" destId="{9B318BDF-1D99-478F-A4A7-889E319773E8}" srcOrd="3" destOrd="0" presId="urn:microsoft.com/office/officeart/2018/5/layout/IconCircleLabelList"/>
    <dgm:cxn modelId="{30A74904-B534-4431-ADAD-777772DE82AB}" type="presParOf" srcId="{91D017B0-ECBA-4A9E-9CA3-C9DE275FE632}" destId="{50E5B9FE-4865-4583-A884-960329F9653B}" srcOrd="1" destOrd="0" presId="urn:microsoft.com/office/officeart/2018/5/layout/IconCircleLabelList"/>
    <dgm:cxn modelId="{A15B421C-46A6-44AF-B5DD-4822E450480B}" type="presParOf" srcId="{91D017B0-ECBA-4A9E-9CA3-C9DE275FE632}" destId="{C9371CBE-0B5F-4EA4-9E93-8880F44ED50D}" srcOrd="2" destOrd="0" presId="urn:microsoft.com/office/officeart/2018/5/layout/IconCircleLabelList"/>
    <dgm:cxn modelId="{DFF00612-192E-4DCD-9FC2-1758E9935BE8}" type="presParOf" srcId="{C9371CBE-0B5F-4EA4-9E93-8880F44ED50D}" destId="{EBC35BC7-BFD9-4D48-9682-FA6E0D938095}" srcOrd="0" destOrd="0" presId="urn:microsoft.com/office/officeart/2018/5/layout/IconCircleLabelList"/>
    <dgm:cxn modelId="{9DFBA83C-0672-4984-94D7-7A7DA0E392CA}" type="presParOf" srcId="{C9371CBE-0B5F-4EA4-9E93-8880F44ED50D}" destId="{FFBA6371-2F82-4A77-82BF-CAE254734C0A}" srcOrd="1" destOrd="0" presId="urn:microsoft.com/office/officeart/2018/5/layout/IconCircleLabelList"/>
    <dgm:cxn modelId="{14F4883B-59F8-43EF-B9FC-663D914A6A0A}" type="presParOf" srcId="{C9371CBE-0B5F-4EA4-9E93-8880F44ED50D}" destId="{CEB31127-FE22-4A28-98C1-7F6D13CBF100}" srcOrd="2" destOrd="0" presId="urn:microsoft.com/office/officeart/2018/5/layout/IconCircleLabelList"/>
    <dgm:cxn modelId="{E4283AFE-3887-42F9-BC55-0F6CBF8BEC7D}" type="presParOf" srcId="{C9371CBE-0B5F-4EA4-9E93-8880F44ED50D}" destId="{E2F710FB-D4B3-474B-949B-0E097001E322}" srcOrd="3" destOrd="0" presId="urn:microsoft.com/office/officeart/2018/5/layout/IconCircleLabelList"/>
    <dgm:cxn modelId="{E01DCB41-AC2B-44B5-849F-F9453AA5E163}" type="presParOf" srcId="{91D017B0-ECBA-4A9E-9CA3-C9DE275FE632}" destId="{4E170ECE-0D26-4DFD-838B-E7869BC43A41}" srcOrd="3" destOrd="0" presId="urn:microsoft.com/office/officeart/2018/5/layout/IconCircleLabelList"/>
    <dgm:cxn modelId="{B8D39877-26E0-40AF-A580-5C29AD7CC337}" type="presParOf" srcId="{91D017B0-ECBA-4A9E-9CA3-C9DE275FE632}" destId="{14E8F7AD-90F7-4B16-860C-E6CCFCB244F4}" srcOrd="4" destOrd="0" presId="urn:microsoft.com/office/officeart/2018/5/layout/IconCircleLabelList"/>
    <dgm:cxn modelId="{AFB4F443-933D-440E-89F1-B0E3E65DEC6C}" type="presParOf" srcId="{14E8F7AD-90F7-4B16-860C-E6CCFCB244F4}" destId="{CCC2486A-D027-43DE-8B21-1D687C26BF6A}" srcOrd="0" destOrd="0" presId="urn:microsoft.com/office/officeart/2018/5/layout/IconCircleLabelList"/>
    <dgm:cxn modelId="{38E307BD-5109-4C5B-9C52-B00BCA3A6DE8}" type="presParOf" srcId="{14E8F7AD-90F7-4B16-860C-E6CCFCB244F4}" destId="{A480CC91-5644-4C1E-83D9-68D710F4E837}" srcOrd="1" destOrd="0" presId="urn:microsoft.com/office/officeart/2018/5/layout/IconCircleLabelList"/>
    <dgm:cxn modelId="{0A44E505-8AC6-4C44-950C-CBB993CCF20A}" type="presParOf" srcId="{14E8F7AD-90F7-4B16-860C-E6CCFCB244F4}" destId="{407AA2CA-72AC-4C22-9FAA-D999B95A9E38}" srcOrd="2" destOrd="0" presId="urn:microsoft.com/office/officeart/2018/5/layout/IconCircleLabelList"/>
    <dgm:cxn modelId="{446232A8-BDD9-4E95-9CC7-8455E7648B84}" type="presParOf" srcId="{14E8F7AD-90F7-4B16-860C-E6CCFCB244F4}" destId="{3175636E-9F0E-4BA3-896A-52DDD53CDC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BFCB8-F783-465B-A4D7-725C2368D59D}">
      <dsp:nvSpPr>
        <dsp:cNvPr id="0" name=""/>
        <dsp:cNvSpPr/>
      </dsp:nvSpPr>
      <dsp:spPr>
        <a:xfrm>
          <a:off x="3190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358D4-F89F-4463-95BC-A7CA79C1A59D}">
      <dsp:nvSpPr>
        <dsp:cNvPr id="0" name=""/>
        <dsp:cNvSpPr/>
      </dsp:nvSpPr>
      <dsp:spPr>
        <a:xfrm>
          <a:off x="256319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Identifies critical business processes</a:t>
          </a:r>
        </a:p>
      </dsp:txBody>
      <dsp:txXfrm>
        <a:off x="298689" y="1308721"/>
        <a:ext cx="2193421" cy="1361892"/>
      </dsp:txXfrm>
    </dsp:sp>
    <dsp:sp modelId="{F286CF29-4B86-4454-BFF4-C6DAC91D7281}">
      <dsp:nvSpPr>
        <dsp:cNvPr id="0" name=""/>
        <dsp:cNvSpPr/>
      </dsp:nvSpPr>
      <dsp:spPr>
        <a:xfrm>
          <a:off x="278760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03805-911F-43C8-8959-B6BEA2304B2B}">
      <dsp:nvSpPr>
        <dsp:cNvPr id="0" name=""/>
        <dsp:cNvSpPr/>
      </dsp:nvSpPr>
      <dsp:spPr>
        <a:xfrm>
          <a:off x="304073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Measures downtime impact</a:t>
          </a:r>
        </a:p>
      </dsp:txBody>
      <dsp:txXfrm>
        <a:off x="3083108" y="1308721"/>
        <a:ext cx="2193421" cy="1361892"/>
      </dsp:txXfrm>
    </dsp:sp>
    <dsp:sp modelId="{9B01F0A0-6364-4B0C-BEC9-8FBA247A7D8D}">
      <dsp:nvSpPr>
        <dsp:cNvPr id="0" name=""/>
        <dsp:cNvSpPr/>
      </dsp:nvSpPr>
      <dsp:spPr>
        <a:xfrm>
          <a:off x="5572029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7DB5E-27BB-4818-A490-2C239BD17FBB}">
      <dsp:nvSpPr>
        <dsp:cNvPr id="0" name=""/>
        <dsp:cNvSpPr/>
      </dsp:nvSpPr>
      <dsp:spPr>
        <a:xfrm>
          <a:off x="5825158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Defines RTO &amp; RPO</a:t>
          </a:r>
        </a:p>
      </dsp:txBody>
      <dsp:txXfrm>
        <a:off x="5867528" y="1308721"/>
        <a:ext cx="2193421" cy="1361892"/>
      </dsp:txXfrm>
    </dsp:sp>
    <dsp:sp modelId="{AC9D769C-2239-4AA2-8EC5-3F1C8AF2204D}">
      <dsp:nvSpPr>
        <dsp:cNvPr id="0" name=""/>
        <dsp:cNvSpPr/>
      </dsp:nvSpPr>
      <dsp:spPr>
        <a:xfrm>
          <a:off x="8356448" y="1025879"/>
          <a:ext cx="2278161" cy="1446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58BB5-7E58-492A-959C-C9E593680BEA}">
      <dsp:nvSpPr>
        <dsp:cNvPr id="0" name=""/>
        <dsp:cNvSpPr/>
      </dsp:nvSpPr>
      <dsp:spPr>
        <a:xfrm>
          <a:off x="8609577" y="1266351"/>
          <a:ext cx="2278161" cy="1446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Maps system dependencies</a:t>
          </a:r>
        </a:p>
      </dsp:txBody>
      <dsp:txXfrm>
        <a:off x="8651947" y="1308721"/>
        <a:ext cx="2193421" cy="1361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4007B-946D-4390-968C-02F6926A1632}">
      <dsp:nvSpPr>
        <dsp:cNvPr id="0" name=""/>
        <dsp:cNvSpPr/>
      </dsp:nvSpPr>
      <dsp:spPr>
        <a:xfrm>
          <a:off x="700214" y="226931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5765A-F2CF-40BA-82FD-28F87340435C}">
      <dsp:nvSpPr>
        <dsp:cNvPr id="0" name=""/>
        <dsp:cNvSpPr/>
      </dsp:nvSpPr>
      <dsp:spPr>
        <a:xfrm>
          <a:off x="1117027" y="643743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18BDF-1D99-478F-A4A7-889E319773E8}">
      <dsp:nvSpPr>
        <dsp:cNvPr id="0" name=""/>
        <dsp:cNvSpPr/>
      </dsp:nvSpPr>
      <dsp:spPr>
        <a:xfrm>
          <a:off x="74995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Payment processing is most critical</a:t>
          </a:r>
        </a:p>
      </dsp:txBody>
      <dsp:txXfrm>
        <a:off x="74995" y="2791931"/>
        <a:ext cx="3206250" cy="720000"/>
      </dsp:txXfrm>
    </dsp:sp>
    <dsp:sp modelId="{EBC35BC7-BFD9-4D48-9682-FA6E0D938095}">
      <dsp:nvSpPr>
        <dsp:cNvPr id="0" name=""/>
        <dsp:cNvSpPr/>
      </dsp:nvSpPr>
      <dsp:spPr>
        <a:xfrm>
          <a:off x="4467558" y="226931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A6371-2F82-4A77-82BF-CAE254734C0A}">
      <dsp:nvSpPr>
        <dsp:cNvPr id="0" name=""/>
        <dsp:cNvSpPr/>
      </dsp:nvSpPr>
      <dsp:spPr>
        <a:xfrm>
          <a:off x="4884370" y="643743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710FB-D4B3-474B-949B-0E097001E322}">
      <dsp:nvSpPr>
        <dsp:cNvPr id="0" name=""/>
        <dsp:cNvSpPr/>
      </dsp:nvSpPr>
      <dsp:spPr>
        <a:xfrm>
          <a:off x="3842339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Downtime = direct revenue loss</a:t>
          </a:r>
        </a:p>
      </dsp:txBody>
      <dsp:txXfrm>
        <a:off x="3842339" y="2791931"/>
        <a:ext cx="3206250" cy="720000"/>
      </dsp:txXfrm>
    </dsp:sp>
    <dsp:sp modelId="{CCC2486A-D027-43DE-8B21-1D687C26BF6A}">
      <dsp:nvSpPr>
        <dsp:cNvPr id="0" name=""/>
        <dsp:cNvSpPr/>
      </dsp:nvSpPr>
      <dsp:spPr>
        <a:xfrm>
          <a:off x="8234902" y="226931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0CC91-5644-4C1E-83D9-68D710F4E837}">
      <dsp:nvSpPr>
        <dsp:cNvPr id="0" name=""/>
        <dsp:cNvSpPr/>
      </dsp:nvSpPr>
      <dsp:spPr>
        <a:xfrm>
          <a:off x="8651714" y="643743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5636E-9F0E-4BA3-896A-52DDD53CDC33}">
      <dsp:nvSpPr>
        <dsp:cNvPr id="0" name=""/>
        <dsp:cNvSpPr/>
      </dsp:nvSpPr>
      <dsp:spPr>
        <a:xfrm>
          <a:off x="7609683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Top risks are cyber + outages</a:t>
          </a:r>
        </a:p>
      </dsp:txBody>
      <dsp:txXfrm>
        <a:off x="7609683" y="2791931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9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92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8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4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8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0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3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98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2E166-587C-C0CB-7FD2-E2CEA04AFC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1673" r="9091" b="1719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A46B88-0EC3-600B-B969-95859FE43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AtlasPay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AFA9D-1785-BF35-2FB1-62439E6C6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Prince Agbaeze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955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776D-F0A7-BC51-9401-6CDCBF5C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1876-0F23-9A8F-8DAE-F6D3D3E4C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400" b="1" dirty="0" err="1"/>
              <a:t>AtlasPay</a:t>
            </a:r>
            <a:r>
              <a:rPr lang="en-US" sz="7400" b="1" dirty="0"/>
              <a:t> Solutions</a:t>
            </a:r>
            <a:endParaRPr lang="en-US" sz="7400" dirty="0"/>
          </a:p>
          <a:p>
            <a:r>
              <a:rPr lang="en-US" sz="7400" dirty="0"/>
              <a:t>FinTech payment processing company </a:t>
            </a:r>
          </a:p>
          <a:p>
            <a:r>
              <a:rPr lang="en-US" sz="7400" dirty="0"/>
              <a:t>85 employees </a:t>
            </a:r>
          </a:p>
          <a:p>
            <a:r>
              <a:rPr lang="en-US" sz="7400" dirty="0"/>
              <a:t>~2.5 million transactions/year </a:t>
            </a:r>
          </a:p>
          <a:p>
            <a:r>
              <a:rPr lang="en-US" sz="7400" dirty="0"/>
              <a:t>Processes credit card payments (PCI DSS environment) </a:t>
            </a:r>
          </a:p>
          <a:p>
            <a:r>
              <a:rPr lang="en-US" sz="7400" dirty="0"/>
              <a:t>Revenue depends on system uptime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FinTech payment processing company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85 employees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~2.5 million transactions/year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Processes credit card payments (PCI DSS environment)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Revenue depends on system uptime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5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02C44-DDB2-752D-3ECB-74101399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Mini BIA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992572-DAF4-9296-E919-00B03BD56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11400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043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930F-E77B-D7C7-6D0E-FA787A0E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349625"/>
            <a:ext cx="10890929" cy="1097280"/>
          </a:xfrm>
        </p:spPr>
        <p:txBody>
          <a:bodyPr/>
          <a:lstStyle/>
          <a:p>
            <a:r>
              <a:rPr lang="en-US" dirty="0"/>
              <a:t>Mini BIA Table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E15461-8983-0402-9B13-B6A8E8743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034239"/>
              </p:ext>
            </p:extLst>
          </p:nvPr>
        </p:nvGraphicFramePr>
        <p:xfrm>
          <a:off x="427890" y="1132726"/>
          <a:ext cx="11314674" cy="507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382">
                  <a:extLst>
                    <a:ext uri="{9D8B030D-6E8A-4147-A177-3AD203B41FA5}">
                      <a16:colId xmlns:a16="http://schemas.microsoft.com/office/drawing/2014/main" val="2317178532"/>
                    </a:ext>
                  </a:extLst>
                </a:gridCol>
                <a:gridCol w="2689093">
                  <a:extLst>
                    <a:ext uri="{9D8B030D-6E8A-4147-A177-3AD203B41FA5}">
                      <a16:colId xmlns:a16="http://schemas.microsoft.com/office/drawing/2014/main" val="3144277668"/>
                    </a:ext>
                  </a:extLst>
                </a:gridCol>
                <a:gridCol w="820270">
                  <a:extLst>
                    <a:ext uri="{9D8B030D-6E8A-4147-A177-3AD203B41FA5}">
                      <a16:colId xmlns:a16="http://schemas.microsoft.com/office/drawing/2014/main" val="3345369839"/>
                    </a:ext>
                  </a:extLst>
                </a:gridCol>
                <a:gridCol w="1976718">
                  <a:extLst>
                    <a:ext uri="{9D8B030D-6E8A-4147-A177-3AD203B41FA5}">
                      <a16:colId xmlns:a16="http://schemas.microsoft.com/office/drawing/2014/main" val="2323875391"/>
                    </a:ext>
                  </a:extLst>
                </a:gridCol>
                <a:gridCol w="766482">
                  <a:extLst>
                    <a:ext uri="{9D8B030D-6E8A-4147-A177-3AD203B41FA5}">
                      <a16:colId xmlns:a16="http://schemas.microsoft.com/office/drawing/2014/main" val="4027369777"/>
                    </a:ext>
                  </a:extLst>
                </a:gridCol>
                <a:gridCol w="874059">
                  <a:extLst>
                    <a:ext uri="{9D8B030D-6E8A-4147-A177-3AD203B41FA5}">
                      <a16:colId xmlns:a16="http://schemas.microsoft.com/office/drawing/2014/main" val="2919361801"/>
                    </a:ext>
                  </a:extLst>
                </a:gridCol>
                <a:gridCol w="2571670">
                  <a:extLst>
                    <a:ext uri="{9D8B030D-6E8A-4147-A177-3AD203B41FA5}">
                      <a16:colId xmlns:a16="http://schemas.microsoft.com/office/drawing/2014/main" val="1121693077"/>
                    </a:ext>
                  </a:extLst>
                </a:gridCol>
              </a:tblGrid>
              <a:tr h="569273">
                <a:tc>
                  <a:txBody>
                    <a:bodyPr/>
                    <a:lstStyle/>
                    <a:p>
                      <a:r>
                        <a:rPr lang="en-US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Downtime</a:t>
                      </a:r>
                    </a:p>
                    <a:p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087539"/>
                  </a:ext>
                </a:extLst>
              </a:tr>
              <a:tr h="813247">
                <a:tc>
                  <a:txBody>
                    <a:bodyPr/>
                    <a:lstStyle/>
                    <a:p>
                      <a:r>
                        <a:rPr lang="en-US" dirty="0"/>
                        <a:t>Payment </a:t>
                      </a:r>
                    </a:p>
                    <a:p>
                      <a:r>
                        <a:rPr lang="en-US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all customer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50K/hour loss, revenue stops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Firewall, DB, Gateway,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8066"/>
                  </a:ext>
                </a:extLst>
              </a:tr>
              <a:tr h="813247">
                <a:tc>
                  <a:txBody>
                    <a:bodyPr/>
                    <a:lstStyle/>
                    <a:p>
                      <a:r>
                        <a:rPr lang="en-US" dirty="0"/>
                        <a:t>Fraud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Monitors transactions for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Increased fraud, financial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Analytics engine,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16538"/>
                  </a:ext>
                </a:extLst>
              </a:tr>
              <a:tr h="712209">
                <a:tc>
                  <a:txBody>
                    <a:bodyPr/>
                    <a:lstStyle/>
                    <a:p>
                      <a:r>
                        <a:rPr lang="en-US" dirty="0"/>
                        <a:t>Customer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Merchants view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server,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872971"/>
                  </a:ext>
                </a:extLst>
              </a:tr>
              <a:tr h="813247">
                <a:tc>
                  <a:txBody>
                    <a:bodyPr/>
                    <a:lstStyle/>
                    <a:p>
                      <a:r>
                        <a:rPr lang="en-US" dirty="0"/>
                        <a:t>Billing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subscriptions/payments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Delayed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DB,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574715"/>
                  </a:ext>
                </a:extLst>
              </a:tr>
              <a:tr h="569273">
                <a:tc>
                  <a:txBody>
                    <a:bodyPr/>
                    <a:lstStyle/>
                    <a:p>
                      <a:r>
                        <a:rPr lang="en-US" dirty="0"/>
                        <a:t>Customer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user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 service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CRM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508793"/>
                  </a:ext>
                </a:extLst>
              </a:tr>
              <a:tr h="569273">
                <a:tc>
                  <a:txBody>
                    <a:bodyPr/>
                    <a:lstStyle/>
                    <a:p>
                      <a:r>
                        <a:rPr lang="en-US" dirty="0"/>
                        <a:t>Internal IT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Admin/network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AD,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82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371B-2469-B9EC-DCA1-BF3A9AD4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50383"/>
            <a:ext cx="10890929" cy="751523"/>
          </a:xfrm>
        </p:spPr>
        <p:txBody>
          <a:bodyPr/>
          <a:lstStyle/>
          <a:p>
            <a:r>
              <a:rPr lang="en-US" dirty="0"/>
              <a:t>Top Threats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57B840-F6F2-55B4-27E0-5E2E21418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74775"/>
              </p:ext>
            </p:extLst>
          </p:nvPr>
        </p:nvGraphicFramePr>
        <p:xfrm>
          <a:off x="640079" y="1801906"/>
          <a:ext cx="10172263" cy="4133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137">
                  <a:extLst>
                    <a:ext uri="{9D8B030D-6E8A-4147-A177-3AD203B41FA5}">
                      <a16:colId xmlns:a16="http://schemas.microsoft.com/office/drawing/2014/main" val="359636973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4284315516"/>
                    </a:ext>
                  </a:extLst>
                </a:gridCol>
                <a:gridCol w="3881126">
                  <a:extLst>
                    <a:ext uri="{9D8B030D-6E8A-4147-A177-3AD203B41FA5}">
                      <a16:colId xmlns:a16="http://schemas.microsoft.com/office/drawing/2014/main" val="2445611891"/>
                    </a:ext>
                  </a:extLst>
                </a:gridCol>
              </a:tblGrid>
              <a:tr h="68888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             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      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            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68074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r>
                        <a:rPr lang="en-US" dirty="0"/>
                        <a:t>Ransomware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021763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r>
                        <a:rPr lang="en-US" dirty="0" err="1"/>
                        <a:t>DDos</a:t>
                      </a:r>
                      <a:r>
                        <a:rPr lang="en-US" dirty="0"/>
                        <a:t>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846580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r>
                        <a:rPr lang="en-US" dirty="0"/>
                        <a:t>Cloud Infrastructure or</a:t>
                      </a:r>
                    </a:p>
                    <a:p>
                      <a:r>
                        <a:rPr lang="en-US" dirty="0"/>
                        <a:t>Server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73556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r>
                        <a:rPr lang="en-US" dirty="0"/>
                        <a:t>Insider 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706725"/>
                  </a:ext>
                </a:extLst>
              </a:tr>
              <a:tr h="688882">
                <a:tc>
                  <a:txBody>
                    <a:bodyPr/>
                    <a:lstStyle/>
                    <a:p>
                      <a:r>
                        <a:rPr lang="en-US" dirty="0"/>
                        <a:t>Power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894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30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33D5E-9612-236F-E898-6D4A0688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Top 3 Priority Risks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FE84-CB62-8160-C719-27005FF43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 Ransomware Attack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Could shut down entire payment system </a:t>
            </a:r>
          </a:p>
          <a:p>
            <a:pPr>
              <a:buNone/>
            </a:pPr>
            <a:r>
              <a:rPr lang="en-US" b="1" dirty="0"/>
              <a:t>2. DDoS Attack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customers from making payments </a:t>
            </a:r>
          </a:p>
          <a:p>
            <a:pPr>
              <a:buNone/>
            </a:pPr>
            <a:r>
              <a:rPr lang="en-US" b="1" dirty="0"/>
              <a:t>3. Cloud Infrastructure or Server Outage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Stops all business operations</a:t>
            </a:r>
          </a:p>
          <a:p>
            <a:endParaRPr lang="en-US" dirty="0"/>
          </a:p>
        </p:txBody>
      </p:sp>
      <p:pic>
        <p:nvPicPr>
          <p:cNvPr id="15" name="Picture 14" descr="Padlock on computer motherboard">
            <a:extLst>
              <a:ext uri="{FF2B5EF4-FFF2-40B4-BE49-F238E27FC236}">
                <a16:creationId xmlns:a16="http://schemas.microsoft.com/office/drawing/2014/main" id="{D4BF1A6D-590E-39DD-4FC8-781E4254D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38" r="3809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8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753B9-57B5-962D-7DD3-41F7E6A5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Critical Function Strategy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6759-C446-A54F-8AA1-F2BAC9D8A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Target: Payment Processing (Tier 1)</a:t>
            </a:r>
            <a:endParaRPr lang="en-US" dirty="0"/>
          </a:p>
          <a:p>
            <a:pPr>
              <a:buNone/>
            </a:pPr>
            <a:r>
              <a:rPr lang="en-US" b="1" dirty="0"/>
              <a:t>Strategies: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Multi-region cloud failover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database replication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balancing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DDoS protection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Frequent backups</a:t>
            </a:r>
          </a:p>
          <a:p>
            <a:endParaRPr lang="en-US" dirty="0"/>
          </a:p>
        </p:txBody>
      </p: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5275E540-9BC1-8701-E638-E58CE229C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96" r="36048" b="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3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BA80-5A6B-89D1-C4EA-DFFB29FA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27" y="1010403"/>
            <a:ext cx="10890929" cy="1097280"/>
          </a:xfrm>
        </p:spPr>
        <p:txBody>
          <a:bodyPr/>
          <a:lstStyle/>
          <a:p>
            <a:r>
              <a:rPr lang="en-US" dirty="0"/>
              <a:t>Cost, Timeline,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5BCA-9D35-EC8C-9A90-84A5E7682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327" y="2203166"/>
            <a:ext cx="4227755" cy="356616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Cost Estimate: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redundancy: ~$3,000/month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Backups: ~$1,000/month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DDoS protection: ~$500/month </a:t>
            </a:r>
          </a:p>
          <a:p>
            <a:pPr>
              <a:buNone/>
            </a:pPr>
            <a:r>
              <a:rPr lang="en-US" dirty="0"/>
              <a:t> Total: ~$4,500/month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90C3D-0376-83A3-FA8F-2B11C97D724B}"/>
              </a:ext>
            </a:extLst>
          </p:cNvPr>
          <p:cNvSpPr txBox="1"/>
          <p:nvPr/>
        </p:nvSpPr>
        <p:spPr>
          <a:xfrm>
            <a:off x="4706470" y="2107683"/>
            <a:ext cx="3307977" cy="1876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Timeline: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Week 1–2: Planning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Week 3–6: Implementation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Week 7: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C325F-6567-3887-3E03-7AE5E626451F}"/>
              </a:ext>
            </a:extLst>
          </p:cNvPr>
          <p:cNvSpPr txBox="1"/>
          <p:nvPr/>
        </p:nvSpPr>
        <p:spPr>
          <a:xfrm>
            <a:off x="8296835" y="2107683"/>
            <a:ext cx="3487268" cy="2799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ROI: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Prevents ~$50K/hour downtime loss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Improves uptime (99.9%+)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Maintains customer trust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Avoids compliance penalties</a:t>
            </a:r>
          </a:p>
        </p:txBody>
      </p:sp>
    </p:spTree>
    <p:extLst>
      <p:ext uri="{BB962C8B-B14F-4D97-AF65-F5344CB8AC3E}">
        <p14:creationId xmlns:p14="http://schemas.microsoft.com/office/powerpoint/2010/main" val="34266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69D03-A0E8-6CF0-23C6-220C66E0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FE4BB0-49CF-3395-1E77-EAC220BA0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46649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5436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369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Grandview Display</vt:lpstr>
      <vt:lpstr>ui-sans-serif</vt:lpstr>
      <vt:lpstr>DashVTI</vt:lpstr>
      <vt:lpstr>AtlasPay Solutions</vt:lpstr>
      <vt:lpstr>Company Overview</vt:lpstr>
      <vt:lpstr>Mini BIA</vt:lpstr>
      <vt:lpstr>Mini BIA Table </vt:lpstr>
      <vt:lpstr>Top Threats</vt:lpstr>
      <vt:lpstr>Top 3 Priority Risks</vt:lpstr>
      <vt:lpstr>Critical Function Strategy</vt:lpstr>
      <vt:lpstr>Cost, Timeline, ROI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AgbaezeC001</dc:creator>
  <cp:lastModifiedBy>AgbaezeC001</cp:lastModifiedBy>
  <cp:revision>2</cp:revision>
  <dcterms:created xsi:type="dcterms:W3CDTF">2026-04-20T23:56:25Z</dcterms:created>
  <dcterms:modified xsi:type="dcterms:W3CDTF">2026-05-08T16:05:12Z</dcterms:modified>
</cp:coreProperties>
</file>